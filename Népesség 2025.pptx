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59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A59A8A9-D328-4497-98ED-6EEF786C8B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87C40174-C387-45A1-BD07-3FBAECAD06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F111A13-B387-408C-8088-9C0878CDE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76379-3D6E-40BA-A44C-3D5E7FAE47E0}" type="datetimeFigureOut">
              <a:rPr lang="hu-HU" smtClean="0"/>
              <a:t>2026. 09. 18.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CEA5404-7128-4936-9AE0-9E5207131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502B009-2668-4610-A5C5-ECFCE7B3F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199C4-48F2-4554-8FD0-8670D67CC7B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08152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796721E-7611-4384-B92D-6FAA3790C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39AAE11-8961-4BC2-863E-DAD7953C37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F504D60-44F9-4F3D-AEE2-2631D23A2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76379-3D6E-40BA-A44C-3D5E7FAE47E0}" type="datetimeFigureOut">
              <a:rPr lang="hu-HU" smtClean="0"/>
              <a:t>2026. 09. 18.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A9838CD-EA22-4A73-864D-E546B224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905E685-257C-4345-B5C9-8CF1DBD85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199C4-48F2-4554-8FD0-8670D67CC7B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1056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7B26666-A3CC-4E1D-A151-1C13BF32E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CE70E183-2D4B-4E1C-99DD-5AFE8A9ABE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B8FB8F9-15F4-4A03-B38D-278CDD479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76379-3D6E-40BA-A44C-3D5E7FAE47E0}" type="datetimeFigureOut">
              <a:rPr lang="hu-HU" smtClean="0"/>
              <a:t>2026. 09. 18.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BB048FB-D923-43E1-888B-DFA95B729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1B65775-8CAC-4EE6-B179-03D88D800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199C4-48F2-4554-8FD0-8670D67CC7B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84384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1923595-1180-4CAE-9E0B-D342A4BB0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1717907-E1B7-4644-990C-4F857D38CF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EEB4F4BD-6D94-41FC-9FB5-F9AC9F414D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B568FE02-38E3-433A-B0D4-D37A0041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76379-3D6E-40BA-A44C-3D5E7FAE47E0}" type="datetimeFigureOut">
              <a:rPr lang="hu-HU" smtClean="0"/>
              <a:t>2026. 09. 18.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BB819C56-FDE2-40B2-AAC5-BC8B526F4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C3853D1C-1BBA-4B07-901B-1CA2BF79D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199C4-48F2-4554-8FD0-8670D67CC7B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67536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9B3A47A-B180-4D48-A5F3-181F10CD2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974D8127-8E90-4E0B-898F-121B2A39AE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38C8706E-50D0-45D9-9F4E-86DC8D0EAC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9752AE89-FDA6-48B9-965D-D09559C3B6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33214065-0B40-44FC-B880-1AD66A2DAF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293B4879-3BFB-4252-91F9-A43F5A794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76379-3D6E-40BA-A44C-3D5E7FAE47E0}" type="datetimeFigureOut">
              <a:rPr lang="hu-HU" smtClean="0"/>
              <a:t>2026. 09. 18.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A821AA45-BD0E-49EA-9CA5-B06A26434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4B7F8FC9-A02C-4008-ADDE-133850553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199C4-48F2-4554-8FD0-8670D67CC7B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10107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C23E1E8-6545-4117-8258-5F64C6438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C41E7955-505F-4A87-8C82-63C5B06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76379-3D6E-40BA-A44C-3D5E7FAE47E0}" type="datetimeFigureOut">
              <a:rPr lang="hu-HU" smtClean="0"/>
              <a:t>2026. 09. 18.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0985B25D-75CF-4BDB-A128-D62915D39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5470D140-E745-4220-B49A-F0A34C091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199C4-48F2-4554-8FD0-8670D67CC7B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15267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F2F951FE-B42D-42C8-8DEF-63C9E703E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76379-3D6E-40BA-A44C-3D5E7FAE47E0}" type="datetimeFigureOut">
              <a:rPr lang="hu-HU" smtClean="0"/>
              <a:t>2026. 09. 18.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8F15C550-AF30-4848-9A6A-F373AD677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829EA4BF-3232-4F96-8FA9-4E30EA4F6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199C4-48F2-4554-8FD0-8670D67CC7B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05527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FE7D22D-B38D-40FF-9C8A-6C7618A65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E747D03-44E6-4691-9188-5B85056C7F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27E4EA6B-E60B-4A10-B195-1C3499EE18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7048E054-DE8F-40BD-A256-19105D43E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76379-3D6E-40BA-A44C-3D5E7FAE47E0}" type="datetimeFigureOut">
              <a:rPr lang="hu-HU" smtClean="0"/>
              <a:t>2026. 09. 18.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283A4E57-112E-4931-BEC8-CD5E83187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70C913B5-7D5E-4EEB-82DD-97EFEB50F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199C4-48F2-4554-8FD0-8670D67CC7B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17772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778E764-08C5-4AE7-9663-80704B102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2C8735A6-49B4-4407-934A-15B34D4FBB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33EADAF9-257D-4322-9BEE-694162799F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3C492132-310D-4BCF-A4B5-907612D6D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76379-3D6E-40BA-A44C-3D5E7FAE47E0}" type="datetimeFigureOut">
              <a:rPr lang="hu-HU" smtClean="0"/>
              <a:t>2026. 09. 18.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098EB277-92D0-4752-B899-CC3EF321F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B92C1EE1-8617-4C78-8E9E-6837C3731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199C4-48F2-4554-8FD0-8670D67CC7B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22122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28E974F-D360-497C-BCCB-20C6CCD78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4C162357-4648-4486-9175-F2207AB3CB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25F4073-4075-41CD-8C07-29773B131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76379-3D6E-40BA-A44C-3D5E7FAE47E0}" type="datetimeFigureOut">
              <a:rPr lang="hu-HU" smtClean="0"/>
              <a:t>2026. 09. 18.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191C270-D210-4563-8B33-A825F8CBD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C230593-F6D4-4F99-AE11-0E127FC2B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199C4-48F2-4554-8FD0-8670D67CC7B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31568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6C455988-BED8-4763-9393-99715F93E7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A46C668B-63BD-4B32-AD65-A779B7256B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F710391-4735-49EF-B59C-86DA0B257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76379-3D6E-40BA-A44C-3D5E7FAE47E0}" type="datetimeFigureOut">
              <a:rPr lang="hu-HU" smtClean="0"/>
              <a:t>2026. 09. 18.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2E79C65-7D1D-4F7E-AC3A-90C75F4EC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EB42F62-E5F1-4408-88CB-9C6F9E655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199C4-48F2-4554-8FD0-8670D67CC7B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07017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A5749C91-D825-4F73-9973-C8F09DCD6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00808F40-93ED-4EE0-A3DB-B0B41BAC1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187CEFF-2C68-491A-B702-C876D666CD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C76379-3D6E-40BA-A44C-3D5E7FAE47E0}" type="datetimeFigureOut">
              <a:rPr lang="hu-HU" smtClean="0"/>
              <a:t>2026. 09. 18.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80AFA01-7250-4DF5-8FFD-6A58C0E386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B3027A7-5041-443F-87F2-A56A91CBE9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C199C4-48F2-4554-8FD0-8670D67CC7B9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4372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slide" Target="slide7.xml"/><Relationship Id="rId1" Type="http://schemas.openxmlformats.org/officeDocument/2006/relationships/slideLayout" Target="../slideLayouts/slideLayout1.xml"/><Relationship Id="rId6" Type="http://schemas.openxmlformats.org/officeDocument/2006/relationships/slide" Target="slide6.xml"/><Relationship Id="rId5" Type="http://schemas.openxmlformats.org/officeDocument/2006/relationships/slide" Target="slide5.xml"/><Relationship Id="rId4" Type="http://schemas.openxmlformats.org/officeDocument/2006/relationships/slide" Target="slide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8.xml"/><Relationship Id="rId5" Type="http://schemas.openxmlformats.org/officeDocument/2006/relationships/slide" Target="slide7.xml"/><Relationship Id="rId4" Type="http://schemas.openxmlformats.org/officeDocument/2006/relationships/slide" Target="slide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35795D0-FA23-4D39-A444-0D8FA9AAAA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hu-HU" sz="6600" dirty="0">
                <a:latin typeface="Bahnschrift SemiBold SemiConden" panose="020B0502040204020203" pitchFamily="34" charset="0"/>
              </a:rPr>
              <a:t>Népesség 2025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B884F986-DFD8-464F-B6C6-4561A600CD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>
                <a:latin typeface="Bahnschrift SemiBold SemiConden" panose="020B0502040204020203" pitchFamily="34" charset="0"/>
              </a:rPr>
              <a:t>Készítette: Farkas Márton Kende: Program Kód, Debreceni Dorián: PPT, Apró Simítások a Kódba</a:t>
            </a:r>
          </a:p>
        </p:txBody>
      </p:sp>
      <p:sp>
        <p:nvSpPr>
          <p:cNvPr id="11" name="Téglalap: lekerekített 5">
            <a:hlinkClick r:id="rId2" action="ppaction://hlinksldjump"/>
            <a:extLst>
              <a:ext uri="{FF2B5EF4-FFF2-40B4-BE49-F238E27FC236}">
                <a16:creationId xmlns:a16="http://schemas.microsoft.com/office/drawing/2014/main" id="{614AC246-E5B4-2D27-D699-A5F77E3600BC}"/>
              </a:ext>
            </a:extLst>
          </p:cNvPr>
          <p:cNvSpPr/>
          <p:nvPr/>
        </p:nvSpPr>
        <p:spPr>
          <a:xfrm>
            <a:off x="1584693" y="7022570"/>
            <a:ext cx="3770722" cy="220835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sz="28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LAPOZÁS</a:t>
            </a:r>
          </a:p>
        </p:txBody>
      </p:sp>
      <p:sp>
        <p:nvSpPr>
          <p:cNvPr id="13" name="Téglalap: lekerekített 9">
            <a:hlinkClick r:id="rId3" action="ppaction://hlinksldjump"/>
            <a:extLst>
              <a:ext uri="{FF2B5EF4-FFF2-40B4-BE49-F238E27FC236}">
                <a16:creationId xmlns:a16="http://schemas.microsoft.com/office/drawing/2014/main" id="{5FAD1ED6-D100-D95A-D9A7-C2C2DE6E1F02}"/>
              </a:ext>
            </a:extLst>
          </p:cNvPr>
          <p:cNvSpPr/>
          <p:nvPr/>
        </p:nvSpPr>
        <p:spPr>
          <a:xfrm>
            <a:off x="6210054" y="7022570"/>
            <a:ext cx="3770722" cy="220835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sz="28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KILÉPÉS</a:t>
            </a:r>
          </a:p>
        </p:txBody>
      </p:sp>
      <p:sp>
        <p:nvSpPr>
          <p:cNvPr id="15" name="Téglalap: lekerekített 4">
            <a:hlinkClick r:id="rId4" action="ppaction://hlinksldjump"/>
            <a:extLst>
              <a:ext uri="{FF2B5EF4-FFF2-40B4-BE49-F238E27FC236}">
                <a16:creationId xmlns:a16="http://schemas.microsoft.com/office/drawing/2014/main" id="{1D356477-5C56-A82A-DE6D-D94AAEE476BA}"/>
              </a:ext>
            </a:extLst>
          </p:cNvPr>
          <p:cNvSpPr/>
          <p:nvPr/>
        </p:nvSpPr>
        <p:spPr>
          <a:xfrm>
            <a:off x="0" y="-2542450"/>
            <a:ext cx="3770722" cy="220835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sz="28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ADATBETÖLTÉS</a:t>
            </a:r>
          </a:p>
        </p:txBody>
      </p:sp>
      <p:sp>
        <p:nvSpPr>
          <p:cNvPr id="17" name="Téglalap: lekerekített 6">
            <a:hlinkClick r:id="rId5" action="ppaction://hlinksldjump"/>
            <a:extLst>
              <a:ext uri="{FF2B5EF4-FFF2-40B4-BE49-F238E27FC236}">
                <a16:creationId xmlns:a16="http://schemas.microsoft.com/office/drawing/2014/main" id="{AB3C9B66-6D2E-4800-1C53-5657E62747CA}"/>
              </a:ext>
            </a:extLst>
          </p:cNvPr>
          <p:cNvSpPr/>
          <p:nvPr/>
        </p:nvSpPr>
        <p:spPr>
          <a:xfrm>
            <a:off x="4039881" y="-2542450"/>
            <a:ext cx="3770722" cy="220835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sz="28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MEGYE ADATAI</a:t>
            </a:r>
          </a:p>
        </p:txBody>
      </p:sp>
      <p:sp>
        <p:nvSpPr>
          <p:cNvPr id="19" name="Téglalap: lekerekített 7">
            <a:hlinkClick r:id="rId6" action="ppaction://hlinksldjump"/>
            <a:extLst>
              <a:ext uri="{FF2B5EF4-FFF2-40B4-BE49-F238E27FC236}">
                <a16:creationId xmlns:a16="http://schemas.microsoft.com/office/drawing/2014/main" id="{771AF31C-B33D-CF36-CD86-A44176593FED}"/>
              </a:ext>
            </a:extLst>
          </p:cNvPr>
          <p:cNvSpPr/>
          <p:nvPr/>
        </p:nvSpPr>
        <p:spPr>
          <a:xfrm>
            <a:off x="8079762" y="-2542450"/>
            <a:ext cx="3770722" cy="220835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sz="28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TELEPÜLÉS TÍPUSAI</a:t>
            </a:r>
          </a:p>
        </p:txBody>
      </p:sp>
    </p:spTree>
    <p:extLst>
      <p:ext uri="{BB962C8B-B14F-4D97-AF65-F5344CB8AC3E}">
        <p14:creationId xmlns:p14="http://schemas.microsoft.com/office/powerpoint/2010/main" val="37601322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églalap: lekerekített 4">
            <a:hlinkClick r:id="rId2" action="ppaction://hlinksldjump"/>
            <a:extLst>
              <a:ext uri="{FF2B5EF4-FFF2-40B4-BE49-F238E27FC236}">
                <a16:creationId xmlns:a16="http://schemas.microsoft.com/office/drawing/2014/main" id="{9E8F3F3D-6BC9-4A25-8A0E-436E6ED49532}"/>
              </a:ext>
            </a:extLst>
          </p:cNvPr>
          <p:cNvSpPr/>
          <p:nvPr/>
        </p:nvSpPr>
        <p:spPr>
          <a:xfrm>
            <a:off x="145358" y="1220647"/>
            <a:ext cx="3770722" cy="220835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sz="28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ADATBETÖLTÉS</a:t>
            </a:r>
          </a:p>
        </p:txBody>
      </p:sp>
      <p:sp>
        <p:nvSpPr>
          <p:cNvPr id="7" name="Téglalap: lekerekített 6">
            <a:hlinkClick r:id="rId3" action="ppaction://hlinksldjump"/>
            <a:extLst>
              <a:ext uri="{FF2B5EF4-FFF2-40B4-BE49-F238E27FC236}">
                <a16:creationId xmlns:a16="http://schemas.microsoft.com/office/drawing/2014/main" id="{93F3B3F4-DA24-4F16-BD48-28454BDE14A8}"/>
              </a:ext>
            </a:extLst>
          </p:cNvPr>
          <p:cNvSpPr/>
          <p:nvPr/>
        </p:nvSpPr>
        <p:spPr>
          <a:xfrm>
            <a:off x="4185239" y="1220647"/>
            <a:ext cx="3770722" cy="220835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sz="28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MEGYE ADATAI</a:t>
            </a:r>
          </a:p>
        </p:txBody>
      </p:sp>
      <p:sp>
        <p:nvSpPr>
          <p:cNvPr id="8" name="Téglalap: lekerekített 7">
            <a:hlinkClick r:id="rId4" action="ppaction://hlinksldjump"/>
            <a:extLst>
              <a:ext uri="{FF2B5EF4-FFF2-40B4-BE49-F238E27FC236}">
                <a16:creationId xmlns:a16="http://schemas.microsoft.com/office/drawing/2014/main" id="{FAC67B0C-4F5D-4B61-B993-533CB8C6D771}"/>
              </a:ext>
            </a:extLst>
          </p:cNvPr>
          <p:cNvSpPr/>
          <p:nvPr/>
        </p:nvSpPr>
        <p:spPr>
          <a:xfrm>
            <a:off x="8225120" y="1220647"/>
            <a:ext cx="3770722" cy="220835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sz="28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TELEPÜLÉS TÍPUSAI</a:t>
            </a:r>
          </a:p>
        </p:txBody>
      </p:sp>
      <p:sp>
        <p:nvSpPr>
          <p:cNvPr id="6" name="Téglalap: lekerekített 5">
            <a:hlinkClick r:id="rId5" action="ppaction://hlinksldjump"/>
            <a:extLst>
              <a:ext uri="{FF2B5EF4-FFF2-40B4-BE49-F238E27FC236}">
                <a16:creationId xmlns:a16="http://schemas.microsoft.com/office/drawing/2014/main" id="{0DD73532-CF41-46FA-BBC2-B79756194F3B}"/>
              </a:ext>
            </a:extLst>
          </p:cNvPr>
          <p:cNvSpPr/>
          <p:nvPr/>
        </p:nvSpPr>
        <p:spPr>
          <a:xfrm>
            <a:off x="1847159" y="3837123"/>
            <a:ext cx="3770722" cy="220835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sz="28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LAPOZÁS</a:t>
            </a:r>
          </a:p>
        </p:txBody>
      </p:sp>
      <p:sp>
        <p:nvSpPr>
          <p:cNvPr id="10" name="Téglalap: lekerekített 9">
            <a:hlinkClick r:id="rId6" action="ppaction://hlinksldjump"/>
            <a:extLst>
              <a:ext uri="{FF2B5EF4-FFF2-40B4-BE49-F238E27FC236}">
                <a16:creationId xmlns:a16="http://schemas.microsoft.com/office/drawing/2014/main" id="{247A1994-0C1A-4646-810E-C1E1B3A7D880}"/>
              </a:ext>
            </a:extLst>
          </p:cNvPr>
          <p:cNvSpPr/>
          <p:nvPr/>
        </p:nvSpPr>
        <p:spPr>
          <a:xfrm>
            <a:off x="6472520" y="3837123"/>
            <a:ext cx="3770722" cy="2208353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sz="28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KILÉPÉS</a:t>
            </a:r>
          </a:p>
        </p:txBody>
      </p:sp>
    </p:spTree>
    <p:extLst>
      <p:ext uri="{BB962C8B-B14F-4D97-AF65-F5344CB8AC3E}">
        <p14:creationId xmlns:p14="http://schemas.microsoft.com/office/powerpoint/2010/main" val="33619086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59AA1C2-B8E8-4E71-ADB3-C402CABBE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800" dirty="0">
                <a:solidFill>
                  <a:schemeClr val="accent1">
                    <a:lumMod val="75000"/>
                  </a:schemeClr>
                </a:solidFill>
                <a:latin typeface="Bahnschrift SemiBold SemiConden" panose="020B0502040204020203" pitchFamily="34" charset="0"/>
                <a:ea typeface="+mn-ea"/>
                <a:cs typeface="+mn-cs"/>
              </a:rPr>
              <a:t>ADATBETÖLTÉS ÉS SZERKEZET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9BA9446-C7E2-4616-ABD1-DD036E3BC0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hu-HU" dirty="0">
                <a:latin typeface="Bahnschrift SemiBold SemiConden" panose="020B0502040204020203" pitchFamily="34" charset="0"/>
              </a:rPr>
              <a:t>Minden sor split(‚;’)-el van elválasztva.</a:t>
            </a:r>
          </a:p>
          <a:p>
            <a:pPr lvl="0"/>
            <a:r>
              <a:rPr lang="hu-HU" b="1" dirty="0">
                <a:latin typeface="Bahnschrift SemiBold SemiConden" panose="020B0502040204020203" pitchFamily="34" charset="0"/>
              </a:rPr>
              <a:t>Fájlnyitás:</a:t>
            </a:r>
            <a:r>
              <a:rPr lang="hu-HU" dirty="0">
                <a:latin typeface="Bahnschrift SemiBold SemiConden" panose="020B0502040204020203" pitchFamily="34" charset="0"/>
              </a:rPr>
              <a:t> with open(...) blokk használata utf-8 kódolással a magyar ékezetes karakterek miatt.</a:t>
            </a:r>
          </a:p>
          <a:p>
            <a:pPr lvl="0"/>
            <a:r>
              <a:rPr lang="hu-HU" b="1" dirty="0">
                <a:latin typeface="Bahnschrift SemiBold SemiConden" panose="020B0502040204020203" pitchFamily="34" charset="0"/>
              </a:rPr>
              <a:t>Hibakezelés:</a:t>
            </a:r>
            <a:r>
              <a:rPr lang="hu-HU" dirty="0">
                <a:latin typeface="Bahnschrift SemiBold SemiConden" panose="020B0502040204020203" pitchFamily="34" charset="0"/>
              </a:rPr>
              <a:t> try-except FileNotFoundError blokk védi a programot az összeomlástól, ha hiányzik a CSV.</a:t>
            </a:r>
          </a:p>
          <a:p>
            <a:pPr lvl="0"/>
            <a:r>
              <a:rPr lang="hu-HU" dirty="0">
                <a:latin typeface="Bahnschrift SemiBold SemiConden" panose="020B0502040204020203" pitchFamily="34" charset="0"/>
              </a:rPr>
              <a:t>A program a lakossag_2025.csv fájlt olvassa be UTF-8 kódolással. A fejlécsort kihagyja, majd soronként feldolgozza az adatokat pontosvessző mentén.</a:t>
            </a:r>
          </a:p>
          <a:p>
            <a:pPr lvl="0"/>
            <a:r>
              <a:rPr lang="hu-HU" dirty="0">
                <a:latin typeface="Bahnschrift SemiBold SemiConden" panose="020B0502040204020203" pitchFamily="34" charset="0"/>
              </a:rPr>
              <a:t>Az összesen mező automatikusan számolódik: ferfi + no.</a:t>
            </a:r>
          </a:p>
          <a:p>
            <a:pPr marL="0" indent="0">
              <a:buNone/>
            </a:pPr>
            <a:endParaRPr lang="hu-HU" dirty="0">
              <a:latin typeface="Bahnschrift SemiBold SemiConden" panose="020B0502040204020203" pitchFamily="34" charset="0"/>
            </a:endParaRPr>
          </a:p>
          <a:p>
            <a:pPr marL="0" indent="0">
              <a:buNone/>
            </a:pPr>
            <a:endParaRPr lang="hu-HU" dirty="0"/>
          </a:p>
        </p:txBody>
      </p:sp>
      <p:sp>
        <p:nvSpPr>
          <p:cNvPr id="6" name="Arrow: Left 5">
            <a:hlinkClick r:id="rId2" action="ppaction://hlinksldjump"/>
            <a:extLst>
              <a:ext uri="{FF2B5EF4-FFF2-40B4-BE49-F238E27FC236}">
                <a16:creationId xmlns:a16="http://schemas.microsoft.com/office/drawing/2014/main" id="{05308904-3F64-2DC0-F8CF-68E8A17FD85C}"/>
              </a:ext>
            </a:extLst>
          </p:cNvPr>
          <p:cNvSpPr/>
          <p:nvPr/>
        </p:nvSpPr>
        <p:spPr>
          <a:xfrm>
            <a:off x="241300" y="6176963"/>
            <a:ext cx="850900" cy="414337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Arrow: Left 9">
            <a:hlinkClick r:id="rId3" action="ppaction://hlinksldjump"/>
            <a:extLst>
              <a:ext uri="{FF2B5EF4-FFF2-40B4-BE49-F238E27FC236}">
                <a16:creationId xmlns:a16="http://schemas.microsoft.com/office/drawing/2014/main" id="{71051697-F066-AB6A-7B99-8C8B2EE4C92A}"/>
              </a:ext>
            </a:extLst>
          </p:cNvPr>
          <p:cNvSpPr/>
          <p:nvPr/>
        </p:nvSpPr>
        <p:spPr>
          <a:xfrm rot="10800000">
            <a:off x="10928350" y="6176963"/>
            <a:ext cx="850900" cy="414337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DBBB43-45EA-F5FD-A87E-915CE4B7A7BD}"/>
              </a:ext>
            </a:extLst>
          </p:cNvPr>
          <p:cNvSpPr txBox="1"/>
          <p:nvPr/>
        </p:nvSpPr>
        <p:spPr>
          <a:xfrm>
            <a:off x="11101916" y="6214854"/>
            <a:ext cx="13546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600" dirty="0">
                <a:solidFill>
                  <a:schemeClr val="bg2"/>
                </a:solidFill>
              </a:rPr>
              <a:t>KÉP</a:t>
            </a:r>
          </a:p>
        </p:txBody>
      </p:sp>
    </p:spTree>
    <p:extLst>
      <p:ext uri="{BB962C8B-B14F-4D97-AF65-F5344CB8AC3E}">
        <p14:creationId xmlns:p14="http://schemas.microsoft.com/office/powerpoint/2010/main" val="1615445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871D8F3-C5C9-EC0E-DA12-95C77045B8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36" t="9383" r="9015" b="9259"/>
          <a:stretch>
            <a:fillRect/>
          </a:stretch>
        </p:blipFill>
        <p:spPr>
          <a:xfrm>
            <a:off x="3014133" y="351366"/>
            <a:ext cx="5782733" cy="5579534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7" name="Arrow: Left 6">
            <a:hlinkClick r:id="rId3" action="ppaction://hlinksldjump"/>
            <a:extLst>
              <a:ext uri="{FF2B5EF4-FFF2-40B4-BE49-F238E27FC236}">
                <a16:creationId xmlns:a16="http://schemas.microsoft.com/office/drawing/2014/main" id="{B7AB8F14-4700-BE8A-42DC-7263F960C0A2}"/>
              </a:ext>
            </a:extLst>
          </p:cNvPr>
          <p:cNvSpPr/>
          <p:nvPr/>
        </p:nvSpPr>
        <p:spPr>
          <a:xfrm>
            <a:off x="241300" y="6176963"/>
            <a:ext cx="850900" cy="414337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8826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8E4DC2C-CE43-4AFF-90E7-099C8933C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z="4800" dirty="0">
                <a:solidFill>
                  <a:schemeClr val="accent1">
                    <a:lumMod val="75000"/>
                  </a:schemeClr>
                </a:solidFill>
                <a:latin typeface="Bahnschrift SemiBold SemiConden" panose="020B0502040204020203" pitchFamily="34" charset="0"/>
                <a:ea typeface="+mn-ea"/>
                <a:cs typeface="+mn-cs"/>
              </a:rPr>
              <a:t>MEGYE ADATAI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7D2C243-BB74-4DCD-889F-A858CD3E1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>
                <a:latin typeface="Bahnschrift SemiBold SemiConden" panose="020B0502040204020203" pitchFamily="34" charset="0"/>
              </a:rPr>
              <a:t>A funkció kilistázza az összes elérhető egyedi megyekódot, majd bekéri a felhasználótól a vizsgálni kívánt megye kódját. Érvénytelen kód esetén hibaüzenet jelenik meg, és újra kérdez.</a:t>
            </a:r>
          </a:p>
          <a:p>
            <a:endParaRPr lang="hu-H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A2041B-E8E9-839C-2C19-D5BFD2978C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59" t="14859" r="6458" b="14986"/>
          <a:stretch>
            <a:fillRect/>
          </a:stretch>
        </p:blipFill>
        <p:spPr>
          <a:xfrm>
            <a:off x="1652960" y="3208150"/>
            <a:ext cx="8886079" cy="3103750"/>
          </a:xfrm>
          <a:prstGeom prst="rect">
            <a:avLst/>
          </a:prstGeom>
        </p:spPr>
      </p:pic>
      <p:sp>
        <p:nvSpPr>
          <p:cNvPr id="7" name="Arrow: Left 6">
            <a:hlinkClick r:id="rId3" action="ppaction://hlinksldjump"/>
            <a:extLst>
              <a:ext uri="{FF2B5EF4-FFF2-40B4-BE49-F238E27FC236}">
                <a16:creationId xmlns:a16="http://schemas.microsoft.com/office/drawing/2014/main" id="{5ABB8D9C-1434-030E-738D-17E61909377F}"/>
              </a:ext>
            </a:extLst>
          </p:cNvPr>
          <p:cNvSpPr/>
          <p:nvPr/>
        </p:nvSpPr>
        <p:spPr>
          <a:xfrm>
            <a:off x="241300" y="6176963"/>
            <a:ext cx="850900" cy="414337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373732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0537D-37B0-E0DF-5704-B3AF42535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z="4800" dirty="0">
                <a:solidFill>
                  <a:schemeClr val="accent1">
                    <a:lumMod val="75000"/>
                  </a:schemeClr>
                </a:solidFill>
                <a:latin typeface="Bahnschrift SemiBold SemiConden" panose="020B0502040204020203" pitchFamily="34" charset="0"/>
                <a:ea typeface="+mn-ea"/>
                <a:cs typeface="+mn-cs"/>
              </a:rPr>
              <a:t>TELEPÜLÉS TÍPUSAI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F03DE-5993-62BE-E331-A564121FA1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>
                <a:latin typeface="Bahnschrift SemiBold SemiConden" panose="020B0502040204020203" pitchFamily="34" charset="0"/>
              </a:rPr>
              <a:t>Településtípus szerint szűrjük az adatbázist. A program automatikusan kigyűjti az összes egyedi típust, sorszámozott listát jelenít meg, majd a felhasználó választása alapján szűr.</a:t>
            </a:r>
          </a:p>
          <a:p>
            <a:endParaRPr lang="hu-HU" dirty="0"/>
          </a:p>
        </p:txBody>
      </p:sp>
      <p:sp>
        <p:nvSpPr>
          <p:cNvPr id="5" name="Arrow: Left 4">
            <a:hlinkClick r:id="rId2" action="ppaction://hlinksldjump"/>
            <a:extLst>
              <a:ext uri="{FF2B5EF4-FFF2-40B4-BE49-F238E27FC236}">
                <a16:creationId xmlns:a16="http://schemas.microsoft.com/office/drawing/2014/main" id="{D56444AC-2CC5-B4DB-A9C2-CB2D2FAEAEC0}"/>
              </a:ext>
            </a:extLst>
          </p:cNvPr>
          <p:cNvSpPr/>
          <p:nvPr/>
        </p:nvSpPr>
        <p:spPr>
          <a:xfrm>
            <a:off x="241300" y="6176963"/>
            <a:ext cx="850900" cy="414337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FB094-5611-DA9E-F6B7-7E74DE2A56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6" t="15567" r="7187" b="15761"/>
          <a:stretch>
            <a:fillRect/>
          </a:stretch>
        </p:blipFill>
        <p:spPr>
          <a:xfrm>
            <a:off x="2156883" y="3429000"/>
            <a:ext cx="7878234" cy="2929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084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E4829-0292-9213-002B-54B84FC9E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z="4800" dirty="0">
                <a:solidFill>
                  <a:schemeClr val="accent1">
                    <a:lumMod val="75000"/>
                  </a:schemeClr>
                </a:solidFill>
                <a:latin typeface="Bahnschrift SemiBold SemiConden" panose="020B0502040204020203" pitchFamily="34" charset="0"/>
                <a:ea typeface="+mn-ea"/>
                <a:cs typeface="+mn-cs"/>
              </a:rPr>
              <a:t>Lapozás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059AB-7DF4-90CA-D715-E81C9C335B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87533" cy="4351338"/>
          </a:xfrm>
        </p:spPr>
        <p:txBody>
          <a:bodyPr/>
          <a:lstStyle/>
          <a:p>
            <a:r>
              <a:rPr lang="hu-HU" dirty="0">
                <a:latin typeface="Bahnschrift SemiBold SemiConden" panose="020B0502040204020203" pitchFamily="34" charset="0"/>
              </a:rPr>
              <a:t>A nagyszámú találat áttekinthető megjelenítésére a program 15 elemes lapokra bontja a listát. A felhasználó navigálhat előre, hátra, vagy közvetlenül ugorhat egy adott oldalra.</a:t>
            </a:r>
          </a:p>
          <a:p>
            <a:r>
              <a:rPr lang="hu-HU" dirty="0">
                <a:latin typeface="Bahnschrift SemiBold SemiConden" panose="020B0502040204020203" pitchFamily="34" charset="0"/>
              </a:rPr>
              <a:t>Az oldalszámítás math.ceil nélkül történik: (osszes_sor + PAGE_SIZE - 1) // PAGE_SIZE</a:t>
            </a:r>
          </a:p>
          <a:p>
            <a:endParaRPr lang="hu-HU" dirty="0"/>
          </a:p>
        </p:txBody>
      </p:sp>
      <p:sp>
        <p:nvSpPr>
          <p:cNvPr id="5" name="Arrow: Left 4">
            <a:hlinkClick r:id="rId2" action="ppaction://hlinksldjump"/>
            <a:extLst>
              <a:ext uri="{FF2B5EF4-FFF2-40B4-BE49-F238E27FC236}">
                <a16:creationId xmlns:a16="http://schemas.microsoft.com/office/drawing/2014/main" id="{406C0A1B-FF60-6D80-5CA4-2BB6BB49BE51}"/>
              </a:ext>
            </a:extLst>
          </p:cNvPr>
          <p:cNvSpPr/>
          <p:nvPr/>
        </p:nvSpPr>
        <p:spPr>
          <a:xfrm>
            <a:off x="241300" y="6176963"/>
            <a:ext cx="850900" cy="414337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4923791-4283-0117-353F-0198E2F645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92" t="9931" r="7992" b="9931"/>
          <a:stretch>
            <a:fillRect/>
          </a:stretch>
        </p:blipFill>
        <p:spPr>
          <a:xfrm>
            <a:off x="6925733" y="1825625"/>
            <a:ext cx="5156201" cy="398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0556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D1BC9-A7CD-9355-9BCF-1685A0421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829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hu-HU" sz="8800" dirty="0">
                <a:solidFill>
                  <a:schemeClr val="accent1">
                    <a:lumMod val="75000"/>
                  </a:schemeClr>
                </a:solidFill>
                <a:latin typeface="Bahnschrift SemiBold SemiConden" panose="020B0502040204020203" pitchFamily="34" charset="0"/>
                <a:ea typeface="+mn-ea"/>
                <a:cs typeface="+mn-cs"/>
              </a:rPr>
              <a:t>Köszönjük a figyelmet!</a:t>
            </a:r>
          </a:p>
        </p:txBody>
      </p:sp>
      <p:sp>
        <p:nvSpPr>
          <p:cNvPr id="5" name="Arrow: Left 4">
            <a:hlinkClick r:id="rId2" action="ppaction://hlinksldjump"/>
            <a:extLst>
              <a:ext uri="{FF2B5EF4-FFF2-40B4-BE49-F238E27FC236}">
                <a16:creationId xmlns:a16="http://schemas.microsoft.com/office/drawing/2014/main" id="{8B12D808-8B6F-CF24-380C-3F9BFFD3C6C3}"/>
              </a:ext>
            </a:extLst>
          </p:cNvPr>
          <p:cNvSpPr/>
          <p:nvPr/>
        </p:nvSpPr>
        <p:spPr>
          <a:xfrm>
            <a:off x="241300" y="6176963"/>
            <a:ext cx="850900" cy="414337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761161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230</Words>
  <Application>Microsoft Office PowerPoint</Application>
  <PresentationFormat>Szélesvásznú</PresentationFormat>
  <Paragraphs>27</Paragraphs>
  <Slides>8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3" baseType="lpstr">
      <vt:lpstr>Arial</vt:lpstr>
      <vt:lpstr>Bahnschrift SemiBold SemiConden</vt:lpstr>
      <vt:lpstr>Calibri</vt:lpstr>
      <vt:lpstr>Calibri Light</vt:lpstr>
      <vt:lpstr>Office-téma</vt:lpstr>
      <vt:lpstr>Népesség 2025</vt:lpstr>
      <vt:lpstr>PowerPoint-bemutató</vt:lpstr>
      <vt:lpstr>ADATBETÖLTÉS ÉS SZERKEZET</vt:lpstr>
      <vt:lpstr>PowerPoint-bemutató</vt:lpstr>
      <vt:lpstr>MEGYE ADATAI</vt:lpstr>
      <vt:lpstr>TELEPÜLÉS TÍPUSAI</vt:lpstr>
      <vt:lpstr>Lapozás</vt:lpstr>
      <vt:lpstr>Köszönjük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Népesség 2025</dc:title>
  <dc:creator>Debreceni Dorián</dc:creator>
  <cp:lastModifiedBy>Debreceni Dorián</cp:lastModifiedBy>
  <cp:revision>9</cp:revision>
  <dcterms:created xsi:type="dcterms:W3CDTF">2026-09-11T07:53:11Z</dcterms:created>
  <dcterms:modified xsi:type="dcterms:W3CDTF">2026-09-18T09:43:43Z</dcterms:modified>
</cp:coreProperties>
</file>